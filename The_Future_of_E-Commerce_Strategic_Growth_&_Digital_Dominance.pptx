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611278"/>
            <a:ext cx="3707606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The Future of E-Commerce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428625" y="2785700"/>
            <a:ext cx="22882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Strategic Growth &amp; Digital Dominance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6427477" y="1161752"/>
            <a:ext cx="8681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C5A059"/>
                </a:solidFill>
              </a:rPr>
              <a:t>Presented by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6061807" y="1383209"/>
            <a:ext cx="159953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Salah El sherif</a:t>
            </a:r>
            <a:endParaRPr lang="en-US" sz="1602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259" y="1981498"/>
            <a:ext cx="2714625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156590"/>
            <a:ext cx="3571875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E-Commerce is the Core of Modern Retail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2056312"/>
            <a:ext cx="535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5A059"/>
                </a:solidFill>
              </a:rPr>
              <a:t>▸</a:t>
            </a:r>
            <a:endParaRPr lang="en-US" sz="734" dirty="0"/>
          </a:p>
        </p:txBody>
      </p:sp>
      <p:sp>
        <p:nvSpPr>
          <p:cNvPr id="5" name="Text 2"/>
          <p:cNvSpPr/>
          <p:nvPr/>
        </p:nvSpPr>
        <p:spPr>
          <a:xfrm>
            <a:off x="595805" y="2056312"/>
            <a:ext cx="63470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Global Shift:</a:t>
            </a:r>
            <a:endParaRPr lang="en-US" sz="734" dirty="0"/>
          </a:p>
        </p:txBody>
      </p:sp>
      <p:sp>
        <p:nvSpPr>
          <p:cNvPr id="6" name="Text 3"/>
          <p:cNvSpPr/>
          <p:nvPr/>
        </p:nvSpPr>
        <p:spPr>
          <a:xfrm>
            <a:off x="428625" y="2056312"/>
            <a:ext cx="3348549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The accelerating transition from physical to digital commerce, driven by consumer convenience and mobile adoption.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428625" y="2542087"/>
            <a:ext cx="535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5A059"/>
                </a:solidFill>
              </a:rPr>
              <a:t>▸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595805" y="2542087"/>
            <a:ext cx="63961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Market Size: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428625" y="2542087"/>
            <a:ext cx="3447892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Global e-commerce sales are projected to exceed $7 trillion by 2025, representing a massive and growing opportunity.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428625" y="3027862"/>
            <a:ext cx="535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5A059"/>
                </a:solidFill>
              </a:rPr>
              <a:t>▸</a:t>
            </a:r>
            <a:endParaRPr lang="en-US" sz="734" dirty="0"/>
          </a:p>
        </p:txBody>
      </p:sp>
      <p:sp>
        <p:nvSpPr>
          <p:cNvPr id="11" name="Text 8"/>
          <p:cNvSpPr/>
          <p:nvPr/>
        </p:nvSpPr>
        <p:spPr>
          <a:xfrm>
            <a:off x="595805" y="3027862"/>
            <a:ext cx="11872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Customer Expectation: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428625" y="3027862"/>
            <a:ext cx="3321760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Consumers now demand seamless, personalized, and instant shopping experiences across all devices.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428625" y="3513637"/>
            <a:ext cx="535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5A059"/>
                </a:solidFill>
              </a:rPr>
              <a:t>▸</a:t>
            </a:r>
            <a:endParaRPr lang="en-US" sz="734" dirty="0"/>
          </a:p>
        </p:txBody>
      </p:sp>
      <p:sp>
        <p:nvSpPr>
          <p:cNvPr id="14" name="Text 11"/>
          <p:cNvSpPr/>
          <p:nvPr/>
        </p:nvSpPr>
        <p:spPr>
          <a:xfrm>
            <a:off x="595805" y="3513637"/>
            <a:ext cx="5744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Our Vision: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428625" y="3513637"/>
            <a:ext cx="3559039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To capture a significant share of this growth by building a digitally dominant and customer-centric platform.</a:t>
            </a:r>
            <a:endParaRPr lang="en-US" sz="78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938" y="1214438"/>
            <a:ext cx="3000375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3" y="1143000"/>
            <a:ext cx="2714625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25" y="533744"/>
            <a:ext cx="371475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Identifying Key Trends and Opportunities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5000625" y="1431680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6" name="Text 2"/>
          <p:cNvSpPr/>
          <p:nvPr/>
        </p:nvSpPr>
        <p:spPr>
          <a:xfrm>
            <a:off x="5000625" y="1580973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Mobile Commerce (M-Commerce):</a:t>
            </a:r>
            <a:endParaRPr lang="en-US" sz="683" dirty="0"/>
          </a:p>
        </p:txBody>
      </p:sp>
      <p:sp>
        <p:nvSpPr>
          <p:cNvPr id="7" name="Text 3"/>
          <p:cNvSpPr/>
          <p:nvPr/>
        </p:nvSpPr>
        <p:spPr>
          <a:xfrm>
            <a:off x="5000625" y="1780273"/>
            <a:ext cx="3531943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Over 70% of traffic originates from mobile devices; optimization for mobile-first is non-negotiable.</a:t>
            </a:r>
            <a:endParaRPr lang="en-US" sz="727" dirty="0"/>
          </a:p>
        </p:txBody>
      </p:sp>
      <p:sp>
        <p:nvSpPr>
          <p:cNvPr id="8" name="Text 4"/>
          <p:cNvSpPr/>
          <p:nvPr/>
        </p:nvSpPr>
        <p:spPr>
          <a:xfrm>
            <a:off x="5000625" y="2228878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5000625" y="2378171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Personalization at Scale:</a:t>
            </a:r>
            <a:endParaRPr lang="en-US" sz="683" dirty="0"/>
          </a:p>
        </p:txBody>
      </p:sp>
      <p:sp>
        <p:nvSpPr>
          <p:cNvPr id="10" name="Text 6"/>
          <p:cNvSpPr/>
          <p:nvPr/>
        </p:nvSpPr>
        <p:spPr>
          <a:xfrm>
            <a:off x="5000625" y="2577471"/>
            <a:ext cx="3092211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Leveraging AI and data analytics to deliver hyper-relevant product recommendations and content.</a:t>
            </a:r>
            <a:endParaRPr lang="en-US" sz="727" dirty="0"/>
          </a:p>
        </p:txBody>
      </p:sp>
      <p:sp>
        <p:nvSpPr>
          <p:cNvPr id="11" name="Text 7"/>
          <p:cNvSpPr/>
          <p:nvPr/>
        </p:nvSpPr>
        <p:spPr>
          <a:xfrm>
            <a:off x="5000625" y="3026076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12" name="Text 8"/>
          <p:cNvSpPr/>
          <p:nvPr/>
        </p:nvSpPr>
        <p:spPr>
          <a:xfrm>
            <a:off x="5000625" y="3175369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Social Commerce Integration: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5000625" y="3374668"/>
            <a:ext cx="3629862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Monetizing social media platforms (e.g., Instagram, TikTok) through direct-to-checkout functionality.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5000625" y="3823274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5000625" y="3972567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Sustainable &amp; Ethical Sourcing: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5000625" y="4171866"/>
            <a:ext cx="3677385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A growing consumer demand for transparency and environmentally conscious business practices.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1119560"/>
            <a:ext cx="4057650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Precision Targeting: Defining and Capturing the High-Value Customer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285750" y="2205717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285750" y="2343931"/>
            <a:ext cx="40576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Core Demographic: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285750" y="2500006"/>
            <a:ext cx="3656372" cy="275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Primary age, income and geographic segments with the highest propensity to purchase.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285750" y="2837157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285750" y="2975372"/>
            <a:ext cx="40576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Psychographic Profile: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285750" y="3131446"/>
            <a:ext cx="29522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Key motivations, pain points and lifestyle of the ideal customer.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285750" y="3328597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285750" y="3466812"/>
            <a:ext cx="40576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Segmentation Strategy: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285750" y="3622886"/>
            <a:ext cx="35074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Dynamic segments based on purchase history, browsing and engagement.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285750" y="3820037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285750" y="3958251"/>
            <a:ext cx="40576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Customer Lifetime Value (CLV):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285750" y="4114326"/>
            <a:ext cx="28298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Prioritize channels that maximize long-term customer value.</a:t>
            </a:r>
            <a:endParaRPr lang="en-US" sz="727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675" y="1500188"/>
            <a:ext cx="271462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13736"/>
            <a:ext cx="3714750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Our Unique Edge: A Differentiated Model for Sustainable Profitability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708835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428625" y="1858128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Model Type: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2057428"/>
            <a:ext cx="3702583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Clearly define the business model (e.g., D2C, Marketplace, Subscription) and its revenue streams.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2477458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28625" y="2626751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Core Value: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28625" y="2826051"/>
            <a:ext cx="3575558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Our platform offers exclusive, curated products and fastest delivery network with unmatched customer experience.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28625" y="3246081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28625" y="3395374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Competitive Advantage: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28625" y="3594674"/>
            <a:ext cx="3284227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Detail how our operational efficiency, technology, or product selection surpasses key competitors.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28625" y="4014704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28625" y="4163997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Scalability: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28625" y="4363296"/>
            <a:ext cx="3643257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The model is designed for rapid, cost-effective expansion into new markets or product categories.</a:t>
            </a:r>
            <a:endParaRPr lang="en-US" sz="727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5" y="1285875"/>
            <a:ext cx="285750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42324"/>
            <a:ext cx="3714750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The Tech Stack Advantage: Building a Scalable, Secure, and Seamless Experience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765985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428625" y="1915278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Headless Architecture: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2114578"/>
            <a:ext cx="3586860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Utilizing a decoupled front-end and back-end for maximum flexibility, speed, and channel expansion.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2506033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28625" y="2655326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Data Security: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28625" y="2854626"/>
            <a:ext cx="3710787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Implementing enterprise-grade security protocols (PCI compliance, encryption) to protect customer data.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28625" y="3246081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28625" y="3395374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AI-Powered Search: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28625" y="3594674"/>
            <a:ext cx="3606561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Enhancing on-site search and discovery with natural language processing for higher conversion rates.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28625" y="3986129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28625" y="4135422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Seamless Checkout: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28625" y="4334721"/>
            <a:ext cx="3505265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Reducing friction with one-click payment options and transparent shipping costs.</a:t>
            </a:r>
            <a:endParaRPr lang="en-US" sz="727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938" y="1214438"/>
            <a:ext cx="3000375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3749"/>
            <a:ext cx="371475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Driving Traffic and Conversion: A Multi-Channel Approach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511684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428625" y="1660978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Search Engine Optimization (SEO):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860277"/>
            <a:ext cx="3454645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Dominating organic search for high-intent keywords through content and technical optimization.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2308882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28625" y="2458176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Paid Media (PPC/Social):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28625" y="2657475"/>
            <a:ext cx="3532863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Strategic allocation of budget to high-performing campaigns with clear ROI targets.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28625" y="3106080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28625" y="3255373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Email &amp; SMS Marketing: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28625" y="3454673"/>
            <a:ext cx="3203525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Nurturing leads and driving repeat purchases through personalized, automated campaigns.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28625" y="3903278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28625" y="4052571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Affiliate &amp; Influencer Programs: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28625" y="4251871"/>
            <a:ext cx="29690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Expanding reach and credibility through strategic partnerships.</a:t>
            </a:r>
            <a:endParaRPr lang="en-US" sz="727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5" y="1071563"/>
            <a:ext cx="28575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03018"/>
            <a:ext cx="3714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Loyalty is the New Currency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57331"/>
            <a:ext cx="3714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Optimizing Post-Purchase and Lifetime Value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428625" y="1582396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731690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Post-Purchase Communication: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428625" y="1930989"/>
            <a:ext cx="34042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Proactive updates on order status, delivery, and personalized follow-ups.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2219585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28625" y="2368879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Returns &amp; Exchanges: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28625" y="2568178"/>
            <a:ext cx="313920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Implementing a hassle-free, customer-friendly policy to build trust.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28625" y="2856774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28625" y="3006068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Loyalty Program: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28625" y="3205367"/>
            <a:ext cx="3451045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Designing a tiered rewards system that incentivizes repeat purchases and high-value behavior.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428625" y="3653972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5A059"/>
                </a:solidFill>
              </a:rPr>
              <a:t>▸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28625" y="3803266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Customer Support: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28625" y="4002565"/>
            <a:ext cx="3228724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Providing 24/7, multi-channel support (chat, email, phone) with rapid resolution times.</a:t>
            </a:r>
            <a:endParaRPr lang="en-US" sz="727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3" y="1143000"/>
            <a:ext cx="2714625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2168" y="1292879"/>
            <a:ext cx="7039663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Measuring Success: Projected Growth and Core Metrics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900113" y="1820066"/>
            <a:ext cx="136582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C5A059"/>
                </a:solidFill>
              </a:rPr>
              <a:t>◆</a:t>
            </a:r>
            <a:pPr algn="l" indent="0" marL="0">
              <a:lnSpc>
                <a:spcPts val="1200"/>
              </a:lnSpc>
              <a:buNone/>
            </a:pPr>
            <a:r>
              <a:rPr lang="en-US" sz="784" b="1" spc="1" kern="0" dirty="0">
                <a:solidFill>
                  <a:srgbClr val="C5A059"/>
                </a:solidFill>
              </a:rPr>
              <a:t>Conversion Rate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900113" y="2052238"/>
            <a:ext cx="69911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3.5%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900113" y="2504080"/>
            <a:ext cx="11430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Share of visitors completing purchases.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2757488" y="1820066"/>
            <a:ext cx="165235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C5A059"/>
                </a:solidFill>
              </a:rPr>
              <a:t>◆</a:t>
            </a:r>
            <a:pPr algn="l" indent="0" marL="0">
              <a:lnSpc>
                <a:spcPts val="1200"/>
              </a:lnSpc>
              <a:buNone/>
            </a:pPr>
            <a:r>
              <a:rPr lang="en-US" sz="784" b="1" spc="1" kern="0" dirty="0">
                <a:solidFill>
                  <a:srgbClr val="C5A059"/>
                </a:solidFill>
              </a:rPr>
              <a:t>Average Order Value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2757488" y="2052238"/>
            <a:ext cx="51488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$85</a:t>
            </a:r>
            <a:endParaRPr lang="en-US" sz="2121" dirty="0"/>
          </a:p>
        </p:txBody>
      </p:sp>
      <p:sp>
        <p:nvSpPr>
          <p:cNvPr id="9" name="Text 6"/>
          <p:cNvSpPr/>
          <p:nvPr/>
        </p:nvSpPr>
        <p:spPr>
          <a:xfrm>
            <a:off x="2757488" y="2504080"/>
            <a:ext cx="11430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Increased via bundling and recommendations.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614863" y="1820066"/>
            <a:ext cx="177165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C5A059"/>
                </a:solidFill>
              </a:rPr>
              <a:t>◆</a:t>
            </a:r>
            <a:pPr algn="l" indent="0" marL="0">
              <a:lnSpc>
                <a:spcPts val="1200"/>
              </a:lnSpc>
              <a:buNone/>
            </a:pPr>
            <a:r>
              <a:rPr lang="en-US" sz="784" b="1" spc="1" kern="0" dirty="0">
                <a:solidFill>
                  <a:srgbClr val="C5A059"/>
                </a:solidFill>
              </a:rPr>
              <a:t>Customer Acquisition </a:t>
            </a:r>
            <a:pPr algn="l" indent="0" marL="0">
              <a:lnSpc>
                <a:spcPts val="1200"/>
              </a:lnSpc>
              <a:buNone/>
            </a:pPr>
            <a:r>
              <a:rPr lang="en-US" sz="784" b="1" spc="1" kern="0" dirty="0">
                <a:solidFill>
                  <a:srgbClr val="C5A059"/>
                </a:solidFill>
              </a:rPr>
              <a:t>Cost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614863" y="2207614"/>
            <a:ext cx="51488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$15</a:t>
            </a:r>
            <a:endParaRPr lang="en-US" sz="2121" dirty="0"/>
          </a:p>
        </p:txBody>
      </p:sp>
      <p:sp>
        <p:nvSpPr>
          <p:cNvPr id="12" name="Text 9"/>
          <p:cNvSpPr/>
          <p:nvPr/>
        </p:nvSpPr>
        <p:spPr>
          <a:xfrm>
            <a:off x="4614863" y="2659456"/>
            <a:ext cx="11430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Efficient multi-channel marketing.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6472238" y="1820066"/>
            <a:ext cx="177165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C5A059"/>
                </a:solidFill>
              </a:rPr>
              <a:t>◆</a:t>
            </a:r>
            <a:pPr algn="l" indent="0" marL="0">
              <a:lnSpc>
                <a:spcPts val="1200"/>
              </a:lnSpc>
              <a:buNone/>
            </a:pPr>
            <a:r>
              <a:rPr lang="en-US" sz="784" b="1" spc="1" kern="0" dirty="0">
                <a:solidFill>
                  <a:srgbClr val="C5A059"/>
                </a:solidFill>
              </a:rPr>
              <a:t>Customer Lifetime </a:t>
            </a:r>
            <a:pPr algn="l" indent="0" marL="0">
              <a:lnSpc>
                <a:spcPts val="1200"/>
              </a:lnSpc>
              <a:buNone/>
            </a:pPr>
            <a:r>
              <a:rPr lang="en-US" sz="784" b="1" spc="1" kern="0" dirty="0">
                <a:solidFill>
                  <a:srgbClr val="C5A059"/>
                </a:solidFill>
              </a:rPr>
              <a:t>Value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6472238" y="2207614"/>
            <a:ext cx="94364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$2,550</a:t>
            </a:r>
            <a:endParaRPr lang="en-US" sz="2121" dirty="0"/>
          </a:p>
        </p:txBody>
      </p:sp>
      <p:sp>
        <p:nvSpPr>
          <p:cNvPr id="15" name="Text 12"/>
          <p:cNvSpPr/>
          <p:nvPr/>
        </p:nvSpPr>
        <p:spPr>
          <a:xfrm>
            <a:off x="6472238" y="2659456"/>
            <a:ext cx="11430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Based on repeat purchases and retention.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900113" y="3258052"/>
            <a:ext cx="196433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C5A059"/>
                </a:solidFill>
              </a:rPr>
              <a:t>◆</a:t>
            </a:r>
            <a:pPr algn="l" indent="0" marL="0">
              <a:lnSpc>
                <a:spcPts val="1200"/>
              </a:lnSpc>
              <a:buNone/>
            </a:pPr>
            <a:r>
              <a:rPr lang="en-US" sz="784" b="1" spc="1" kern="0" dirty="0">
                <a:solidFill>
                  <a:srgbClr val="C5A059"/>
                </a:solidFill>
              </a:rPr>
              <a:t>Projected 3-Year Revenue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900113" y="3490224"/>
            <a:ext cx="1141047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$125M+</a:t>
            </a:r>
            <a:endParaRPr lang="en-US" sz="2121" dirty="0"/>
          </a:p>
        </p:txBody>
      </p:sp>
      <p:sp>
        <p:nvSpPr>
          <p:cNvPr id="18" name="Text 15"/>
          <p:cNvSpPr/>
          <p:nvPr/>
        </p:nvSpPr>
        <p:spPr>
          <a:xfrm>
            <a:off x="900113" y="3942066"/>
            <a:ext cx="11430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Conservative YoY growth across channels.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571891"/>
            <a:ext cx="6429375" cy="89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Next Steps: Securing Our Digital Future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1714500" y="1856315"/>
            <a:ext cx="64294" cy="218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885" b="1" dirty="0">
                <a:solidFill>
                  <a:srgbClr val="C5A059"/>
                </a:solidFill>
              </a:rPr>
              <a:t>▸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1893094" y="1842027"/>
            <a:ext cx="5536406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Immediate Focus:</a:t>
            </a:r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 Prioritize the launch of the new mobile-optimized platform and the personalization </a:t>
            </a:r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engine to enhance customer experience and drive conversion rates.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1714500" y="2373511"/>
            <a:ext cx="64294" cy="218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885" b="1" dirty="0">
                <a:solidFill>
                  <a:srgbClr val="C5A059"/>
                </a:solidFill>
              </a:rPr>
              <a:t>▸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1893094" y="2359223"/>
            <a:ext cx="5536406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Investment Required:</a:t>
            </a:r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 Secure funding for the next phase of marketing and technology development </a:t>
            </a:r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to accelerate market expansion and competitive positioning.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1714500" y="2890707"/>
            <a:ext cx="64294" cy="218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885" b="1" dirty="0">
                <a:solidFill>
                  <a:srgbClr val="C5A059"/>
                </a:solidFill>
              </a:rPr>
              <a:t>▸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1893094" y="2876420"/>
            <a:ext cx="5536406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Timeline:</a:t>
            </a:r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 Target Q1 2026 for achieving key milestones in platform deployment, market penetration, </a:t>
            </a:r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and revenue growth objectives.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1714500" y="3407904"/>
            <a:ext cx="64294" cy="218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885" b="1" dirty="0">
                <a:solidFill>
                  <a:srgbClr val="C5A059"/>
                </a:solidFill>
              </a:rPr>
              <a:t>▸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1893094" y="3393616"/>
            <a:ext cx="5536406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Discussion:</a:t>
            </a:r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 Questions, feedback, and collaborative dialogue to refine our strategic roadmap and </a:t>
            </a:r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ensure organizational alignment.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1357313" y="4418019"/>
            <a:ext cx="6429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Thank You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1357313" y="4726986"/>
            <a:ext cx="64293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C5A059"/>
                </a:solidFill>
              </a:rPr>
              <a:t>Salah El sherif</a:t>
            </a:r>
            <a:endParaRPr lang="en-US" sz="13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2025-12-20T22:00:23Z</dcterms:created>
  <dcterms:modified xsi:type="dcterms:W3CDTF">2025-12-20T22:00:23Z</dcterms:modified>
</cp:coreProperties>
</file>